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13"/>
  </p:notesMasterIdLst>
  <p:sldIdLst>
    <p:sldId id="258" r:id="rId5"/>
    <p:sldId id="442" r:id="rId6"/>
    <p:sldId id="455" r:id="rId7"/>
    <p:sldId id="456" r:id="rId8"/>
    <p:sldId id="458" r:id="rId9"/>
    <p:sldId id="459" r:id="rId10"/>
    <p:sldId id="400" r:id="rId11"/>
    <p:sldId id="45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F9C64"/>
    <a:srgbClr val="F3B1AC"/>
    <a:srgbClr val="AFABAB"/>
    <a:srgbClr val="FF0000"/>
    <a:srgbClr val="B2D2F2"/>
    <a:srgbClr val="73A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03" autoAdjust="0"/>
    <p:restoredTop sz="96405"/>
  </p:normalViewPr>
  <p:slideViewPr>
    <p:cSldViewPr snapToGrid="0" snapToObjects="1" showGuides="1">
      <p:cViewPr varScale="1">
        <p:scale>
          <a:sx n="148" d="100"/>
          <a:sy n="148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A375-B218-184B-B243-CB7E0F1616A7}" type="datetimeFigureOut">
              <a:rPr lang="en-US" smtClean="0"/>
              <a:t>7/8/26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F0F0-3408-9F4A-9B24-898CD7F5D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1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4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179514"/>
            <a:ext cx="10287000" cy="50307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800449" y="6500474"/>
            <a:ext cx="3197406" cy="355600"/>
          </a:xfrm>
        </p:spPr>
        <p:txBody>
          <a:bodyPr/>
          <a:lstStyle/>
          <a:p>
            <a:r>
              <a:rPr lang="en-US" dirty="0"/>
              <a:t>HAPI and SPASE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24301"/>
            <a:ext cx="2988364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6195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3924301"/>
            <a:ext cx="2979692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6195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3924301"/>
            <a:ext cx="2983450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6195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98840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1811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1811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29101"/>
            <a:ext cx="2988364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9243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4229101"/>
            <a:ext cx="2979692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9243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4229101"/>
            <a:ext cx="2983450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9243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899"/>
            <a:ext cx="2988409" cy="223113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4859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4859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4"/>
            <a:ext cx="10286999" cy="661986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38459"/>
            <a:ext cx="2301354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3938459"/>
            <a:ext cx="233224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633658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3938459"/>
            <a:ext cx="2302372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18555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3938459"/>
            <a:ext cx="233869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633658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18555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16231"/>
            <a:ext cx="2301354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4216231"/>
            <a:ext cx="233224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911430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4216231"/>
            <a:ext cx="2302372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48590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4216231"/>
            <a:ext cx="233869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911430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48590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28299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1837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5433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20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allery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1347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4885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8481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3"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81100"/>
            <a:ext cx="9144000" cy="1143000"/>
          </a:xfrm>
        </p:spPr>
        <p:txBody>
          <a:bodyPr anchor="b">
            <a:no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8" y="2437483"/>
            <a:ext cx="9145706" cy="5013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3" pos="43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3"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3825129"/>
            <a:ext cx="9144000" cy="5943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415475"/>
            <a:ext cx="9144000" cy="49921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-9053"/>
            <a:ext cx="12192000" cy="3441700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4229100" y="1"/>
            <a:ext cx="0" cy="6500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1"/>
            <a:ext cx="12192000" cy="6500473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8089900" y="5462403"/>
            <a:ext cx="3644900" cy="747897"/>
          </a:xfrm>
          <a:solidFill>
            <a:schemeClr val="bg1"/>
          </a:solidFill>
        </p:spPr>
        <p:txBody>
          <a:bodyPr lIns="365760" tIns="274320" rIns="365760" bIns="274320" anchor="t" anchorCtr="0">
            <a:sp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00488"/>
            <a:ext cx="12192000" cy="356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50048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11428508" y="6604000"/>
            <a:ext cx="0" cy="15514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3" y="6565216"/>
            <a:ext cx="212200" cy="228116"/>
          </a:xfrm>
          <a:prstGeom prst="rect">
            <a:avLst/>
          </a:prstGeom>
        </p:spPr>
      </p:pic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edia Placeholder 10"/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video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with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 userDrawn="1">
            <p:ph type="title" hasCustomPrompt="1"/>
          </p:nvPr>
        </p:nvSpPr>
        <p:spPr>
          <a:xfrm>
            <a:off x="457200" y="419100"/>
            <a:ext cx="11277600" cy="389709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6096000" y="887620"/>
            <a:ext cx="0" cy="56124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0" y="3695999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 userDrawn="1"/>
        </p:nvCxnSpPr>
        <p:spPr>
          <a:xfrm>
            <a:off x="0" y="88442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144787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3" name="Text Placeholder 1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57200" y="1154384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5" name="Text Placeholder 14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57200" y="4295396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6" name="Text Placeholder 1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57200" y="4001905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9" name="Text Placeholder 14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442617" y="1444158"/>
            <a:ext cx="5292183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0" name="Text Placeholder 1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42616" y="1150667"/>
            <a:ext cx="5292183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62" name="Text Placeholder 14"/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438900" y="4291679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</a:t>
            </a:r>
            <a:r>
              <a:rPr lang="en-US"/>
              <a:t>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Text Placeholder 16"/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438900" y="3998188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96000" y="0"/>
            <a:ext cx="0" cy="6499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25508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7200" y="419100"/>
            <a:ext cx="529682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1" y="3880422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57199" y="3586931"/>
            <a:ext cx="529590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4389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6"/>
          <p:cNvSpPr>
            <a:spLocks noGrp="1"/>
          </p:cNvSpPr>
          <p:nvPr>
            <p:ph type="body" sz="quarter" idx="32" hasCustomPrompt="1"/>
          </p:nvPr>
        </p:nvSpPr>
        <p:spPr>
          <a:xfrm>
            <a:off x="6438901" y="419100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38900" y="387670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16"/>
          <p:cNvSpPr>
            <a:spLocks noGrp="1"/>
          </p:cNvSpPr>
          <p:nvPr>
            <p:ph type="body" sz="quarter" idx="36" hasCustomPrompt="1"/>
          </p:nvPr>
        </p:nvSpPr>
        <p:spPr>
          <a:xfrm>
            <a:off x="6438901" y="3583214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66530"/>
            <a:ext cx="5334000" cy="5734880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70368"/>
            <a:ext cx="5334000" cy="572179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-2370" y="0"/>
            <a:ext cx="4063997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1628" y="0"/>
            <a:ext cx="406399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063999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4000" y="0"/>
            <a:ext cx="406162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499798"/>
            <a:ext cx="11821302" cy="356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181100"/>
            <a:ext cx="102870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78083" y="6500814"/>
            <a:ext cx="2930327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566791"/>
            <a:ext cx="210893" cy="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7" r:id="rId2"/>
    <p:sldLayoutId id="2147483731" r:id="rId3"/>
    <p:sldLayoutId id="2147483701" r:id="rId4"/>
    <p:sldLayoutId id="2147483732" r:id="rId5"/>
    <p:sldLayoutId id="2147483703" r:id="rId6"/>
    <p:sldLayoutId id="2147483733" r:id="rId7"/>
    <p:sldLayoutId id="2147483704" r:id="rId8"/>
    <p:sldLayoutId id="2147483734" r:id="rId9"/>
    <p:sldLayoutId id="2147483730" r:id="rId10"/>
    <p:sldLayoutId id="2147483736" r:id="rId11"/>
    <p:sldLayoutId id="2147483705" r:id="rId12"/>
    <p:sldLayoutId id="2147483735" r:id="rId13"/>
    <p:sldLayoutId id="2147483707" r:id="rId14"/>
    <p:sldLayoutId id="2147483708" r:id="rId15"/>
    <p:sldLayoutId id="2147483709" r:id="rId16"/>
    <p:sldLayoutId id="2147483725" r:id="rId17"/>
    <p:sldLayoutId id="2147483710" r:id="rId18"/>
    <p:sldLayoutId id="2147483711" r:id="rId19"/>
    <p:sldLayoutId id="2147483737" r:id="rId20"/>
    <p:sldLayoutId id="2147483712" r:id="rId21"/>
    <p:sldLayoutId id="2147483713" r:id="rId22"/>
    <p:sldLayoutId id="2147483727" r:id="rId23"/>
    <p:sldLayoutId id="2147483726" r:id="rId24"/>
    <p:sldLayoutId id="2147483719" r:id="rId25"/>
    <p:sldLayoutId id="2147483721" r:id="rId26"/>
    <p:sldLayoutId id="2147483693" r:id="rId27"/>
    <p:sldLayoutId id="2147483722" r:id="rId28"/>
    <p:sldLayoutId id="2147483694" r:id="rId29"/>
    <p:sldLayoutId id="2147483723" r:id="rId30"/>
    <p:sldLayoutId id="2147483695" r:id="rId31"/>
    <p:sldLayoutId id="2147483724" r:id="rId32"/>
    <p:sldLayoutId id="2147483717" r:id="rId33"/>
    <p:sldLayoutId id="2147483720" r:id="rId34"/>
    <p:sldLayoutId id="2147483715" r:id="rId3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Font typeface=".AppleSystemUIFont" charset="-120"/>
        <a:buChar char="-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Wingdings" charset="2"/>
        <a:buChar char="§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Courier New" charset="0"/>
        <a:buChar char="o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 userDrawn="1">
          <p15:clr>
            <a:srgbClr val="F26B43"/>
          </p15:clr>
        </p15:guide>
        <p15:guide id="11" pos="288" userDrawn="1">
          <p15:clr>
            <a:srgbClr val="F26B43"/>
          </p15:clr>
        </p15:guide>
        <p15:guide id="12" pos="7392" userDrawn="1">
          <p15:clr>
            <a:srgbClr val="F26B43"/>
          </p15:clr>
        </p15:guide>
        <p15:guide id="13" orient="horz" pos="3912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6" orient="horz" pos="936" userDrawn="1">
          <p15:clr>
            <a:srgbClr val="F26B43"/>
          </p15:clr>
        </p15:guide>
        <p15:guide id="17" pos="600" userDrawn="1">
          <p15:clr>
            <a:srgbClr val="F26B43"/>
          </p15:clr>
        </p15:guide>
        <p15:guide id="18" pos="7080" userDrawn="1">
          <p15:clr>
            <a:srgbClr val="F26B43"/>
          </p15:clr>
        </p15:guide>
        <p15:guide id="19" pos="4056" userDrawn="1">
          <p15:clr>
            <a:srgbClr val="F26B43"/>
          </p15:clr>
        </p15:guide>
        <p15:guide id="20" pos="3624" userDrawn="1">
          <p15:clr>
            <a:srgbClr val="F26B43"/>
          </p15:clr>
        </p15:guide>
        <p15:guide id="22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517567"/>
            <a:ext cx="11506200" cy="1193821"/>
          </a:xfrm>
        </p:spPr>
        <p:txBody>
          <a:bodyPr>
            <a:normAutofit/>
          </a:bodyPr>
          <a:lstStyle/>
          <a:p>
            <a:r>
              <a:rPr lang="en-US" sz="3600" dirty="0"/>
              <a:t>Use HAPI for Easy Data Access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4366412"/>
            <a:ext cx="4643295" cy="1384763"/>
          </a:xfrm>
        </p:spPr>
        <p:txBody>
          <a:bodyPr>
            <a:noAutofit/>
          </a:bodyPr>
          <a:lstStyle/>
          <a:p>
            <a:r>
              <a:rPr lang="en-US" sz="1800" dirty="0"/>
              <a:t>Jon Vandegriff, JHU </a:t>
            </a:r>
            <a:r>
              <a:rPr lang="en-US" sz="1800"/>
              <a:t>/ APL</a:t>
            </a:r>
            <a:endParaRPr lang="en-US" sz="1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7F8A214-2860-CB20-EFAF-71EC73CFE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625" y="1117216"/>
            <a:ext cx="3695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5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AAF33-B4F6-2FF3-C634-1DC33EFB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CF88E8-3C22-2778-B772-1A39BA31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E1220-098F-C58D-C2A4-7C36AD37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A71FC-61DE-9535-7063-A4FBF4F33BA0}"/>
              </a:ext>
            </a:extLst>
          </p:cNvPr>
          <p:cNvSpPr/>
          <p:nvPr/>
        </p:nvSpPr>
        <p:spPr>
          <a:xfrm>
            <a:off x="2439190" y="2442083"/>
            <a:ext cx="851337" cy="3888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55C79-842F-7C3A-83B9-4A3084FFDD42}"/>
              </a:ext>
            </a:extLst>
          </p:cNvPr>
          <p:cNvSpPr/>
          <p:nvPr/>
        </p:nvSpPr>
        <p:spPr>
          <a:xfrm>
            <a:off x="2439188" y="5132139"/>
            <a:ext cx="851337" cy="3888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HAPI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78BB5-AAF9-8A59-5197-A5AB1CA0358E}"/>
              </a:ext>
            </a:extLst>
          </p:cNvPr>
          <p:cNvSpPr/>
          <p:nvPr/>
        </p:nvSpPr>
        <p:spPr>
          <a:xfrm>
            <a:off x="2439190" y="3826487"/>
            <a:ext cx="851337" cy="3888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HAPI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0D9117-CE9F-110C-B9D6-DE3035E0213C}"/>
              </a:ext>
            </a:extLst>
          </p:cNvPr>
          <p:cNvCxnSpPr>
            <a:cxnSpLocks/>
          </p:cNvCxnSpPr>
          <p:nvPr/>
        </p:nvCxnSpPr>
        <p:spPr>
          <a:xfrm flipV="1">
            <a:off x="3366180" y="3495299"/>
            <a:ext cx="2477423" cy="177724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529893-A64A-4ADE-E716-BEB161B5D5FE}"/>
              </a:ext>
            </a:extLst>
          </p:cNvPr>
          <p:cNvCxnSpPr>
            <a:cxnSpLocks/>
          </p:cNvCxnSpPr>
          <p:nvPr/>
        </p:nvCxnSpPr>
        <p:spPr>
          <a:xfrm flipV="1">
            <a:off x="3372505" y="3377351"/>
            <a:ext cx="2359816" cy="64357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119C4D-EAF6-509B-1C7F-4AA0D682DF03}"/>
              </a:ext>
            </a:extLst>
          </p:cNvPr>
          <p:cNvCxnSpPr>
            <a:cxnSpLocks/>
          </p:cNvCxnSpPr>
          <p:nvPr/>
        </p:nvCxnSpPr>
        <p:spPr>
          <a:xfrm>
            <a:off x="3340780" y="2700900"/>
            <a:ext cx="2366141" cy="494948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077BE75-018B-B672-80B0-621D7ABEE8F1}"/>
              </a:ext>
            </a:extLst>
          </p:cNvPr>
          <p:cNvSpPr/>
          <p:nvPr/>
        </p:nvSpPr>
        <p:spPr>
          <a:xfrm>
            <a:off x="1122221" y="2442083"/>
            <a:ext cx="1316968" cy="93526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 err="1"/>
              <a:t>SSCWeb</a:t>
            </a: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232EE5-C5AE-DF78-11BD-97BDEFB7A7C7}"/>
              </a:ext>
            </a:extLst>
          </p:cNvPr>
          <p:cNvSpPr/>
          <p:nvPr/>
        </p:nvSpPr>
        <p:spPr>
          <a:xfrm>
            <a:off x="1122221" y="3723200"/>
            <a:ext cx="1316968" cy="93526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INTER-MAGNET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A10293-E77F-009D-486A-D748095D31FE}"/>
              </a:ext>
            </a:extLst>
          </p:cNvPr>
          <p:cNvSpPr/>
          <p:nvPr/>
        </p:nvSpPr>
        <p:spPr>
          <a:xfrm>
            <a:off x="1122221" y="5132139"/>
            <a:ext cx="1316968" cy="93526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 err="1"/>
              <a:t>VirES</a:t>
            </a:r>
            <a:r>
              <a:rPr lang="en-US" sz="2000" dirty="0"/>
              <a:t> / SWARM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59DE36-DA07-43A0-F9A5-3DF0CE7C41C1}"/>
              </a:ext>
            </a:extLst>
          </p:cNvPr>
          <p:cNvSpPr/>
          <p:nvPr/>
        </p:nvSpPr>
        <p:spPr>
          <a:xfrm>
            <a:off x="2439190" y="1146683"/>
            <a:ext cx="851337" cy="38888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HAPI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D914BB-E42D-C0A0-F692-034C42CEEF66}"/>
              </a:ext>
            </a:extLst>
          </p:cNvPr>
          <p:cNvCxnSpPr>
            <a:cxnSpLocks/>
          </p:cNvCxnSpPr>
          <p:nvPr/>
        </p:nvCxnSpPr>
        <p:spPr>
          <a:xfrm>
            <a:off x="3366180" y="1359488"/>
            <a:ext cx="2439323" cy="1639129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493F3C8-913B-1187-2161-2715C60B6757}"/>
              </a:ext>
            </a:extLst>
          </p:cNvPr>
          <p:cNvSpPr/>
          <p:nvPr/>
        </p:nvSpPr>
        <p:spPr>
          <a:xfrm>
            <a:off x="1122221" y="1146683"/>
            <a:ext cx="1316968" cy="93526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dirty="0"/>
              <a:t>CDAWeb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CE64CE-0519-6B30-2B7F-8C63C4630B20}"/>
              </a:ext>
            </a:extLst>
          </p:cNvPr>
          <p:cNvSpPr/>
          <p:nvPr/>
        </p:nvSpPr>
        <p:spPr>
          <a:xfrm>
            <a:off x="2337474" y="1675138"/>
            <a:ext cx="981731" cy="549586"/>
          </a:xfrm>
          <a:prstGeom prst="rect">
            <a:avLst/>
          </a:prstGeom>
          <a:solidFill>
            <a:srgbClr val="FF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4692BE-D348-263B-BEC2-31BB39D0FBB6}"/>
              </a:ext>
            </a:extLst>
          </p:cNvPr>
          <p:cNvSpPr/>
          <p:nvPr/>
        </p:nvSpPr>
        <p:spPr>
          <a:xfrm>
            <a:off x="2399119" y="3009268"/>
            <a:ext cx="981731" cy="549586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3D0EB7-A17F-83B1-5C51-24E932DA5E38}"/>
              </a:ext>
            </a:extLst>
          </p:cNvPr>
          <p:cNvSpPr/>
          <p:nvPr/>
        </p:nvSpPr>
        <p:spPr>
          <a:xfrm>
            <a:off x="2384449" y="4317408"/>
            <a:ext cx="981731" cy="549586"/>
          </a:xfrm>
          <a:prstGeom prst="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59E071-7FA9-F9B5-F81E-7B50984E5D6C}"/>
              </a:ext>
            </a:extLst>
          </p:cNvPr>
          <p:cNvSpPr/>
          <p:nvPr/>
        </p:nvSpPr>
        <p:spPr>
          <a:xfrm>
            <a:off x="2373992" y="5738380"/>
            <a:ext cx="981731" cy="54958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3FD08-E43E-9C3A-249D-3B3F3F93B51A}"/>
              </a:ext>
            </a:extLst>
          </p:cNvPr>
          <p:cNvSpPr txBox="1"/>
          <p:nvPr/>
        </p:nvSpPr>
        <p:spPr>
          <a:xfrm>
            <a:off x="6069440" y="2766382"/>
            <a:ext cx="5483424" cy="830997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HAPI offers a single way to obtain data</a:t>
            </a:r>
          </a:p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from many repositories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9BF79-487B-EFB1-A1FB-4343FBC20BF4}"/>
              </a:ext>
            </a:extLst>
          </p:cNvPr>
          <p:cNvSpPr txBox="1"/>
          <p:nvPr/>
        </p:nvSpPr>
        <p:spPr>
          <a:xfrm>
            <a:off x="5207384" y="5112971"/>
            <a:ext cx="6832127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Same way to request the data.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Same arrangement (data structures) of returned data.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F0F4D2-1BD7-39CC-6221-801511C637DC}"/>
              </a:ext>
            </a:extLst>
          </p:cNvPr>
          <p:cNvSpPr txBox="1"/>
          <p:nvPr/>
        </p:nvSpPr>
        <p:spPr>
          <a:xfrm>
            <a:off x="927114" y="359333"/>
            <a:ext cx="1125629" cy="70788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Data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Servers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433B27-A1A2-0390-2A5E-340B5174E570}"/>
              </a:ext>
            </a:extLst>
          </p:cNvPr>
          <p:cNvSpPr txBox="1"/>
          <p:nvPr/>
        </p:nvSpPr>
        <p:spPr>
          <a:xfrm>
            <a:off x="2601282" y="351175"/>
            <a:ext cx="1096775" cy="70788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Access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Method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5C3E5-6CDD-F67D-2C86-CAA521F15CFD}"/>
              </a:ext>
            </a:extLst>
          </p:cNvPr>
          <p:cNvSpPr txBox="1"/>
          <p:nvPr/>
        </p:nvSpPr>
        <p:spPr>
          <a:xfrm>
            <a:off x="4883727" y="4689422"/>
            <a:ext cx="5598007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HAPI standardizes key data access pain points:</a:t>
            </a:r>
          </a:p>
        </p:txBody>
      </p:sp>
    </p:spTree>
    <p:extLst>
      <p:ext uri="{BB962C8B-B14F-4D97-AF65-F5344CB8AC3E}">
        <p14:creationId xmlns:p14="http://schemas.microsoft.com/office/powerpoint/2010/main" val="171812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C08C-73D6-5748-229A-7BB174399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0BCC-8C9C-6341-DF21-6DC82BF3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411"/>
            <a:ext cx="11277600" cy="762000"/>
          </a:xfrm>
        </p:spPr>
        <p:txBody>
          <a:bodyPr>
            <a:normAutofit/>
          </a:bodyPr>
          <a:lstStyle/>
          <a:p>
            <a:r>
              <a:rPr lang="en-US" dirty="0"/>
              <a:t>Python code to get data is short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55549-130F-5868-DFED-27E08DDA5E5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BEBD-ACC7-A2DF-C033-74D900CA5D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71B4-6300-AD55-6C52-14AC403E88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1C9C0-97E3-7802-44F0-C52B3BC14CF2}"/>
              </a:ext>
            </a:extLst>
          </p:cNvPr>
          <p:cNvSpPr txBox="1"/>
          <p:nvPr/>
        </p:nvSpPr>
        <p:spPr>
          <a:xfrm>
            <a:off x="1178628" y="1586037"/>
            <a:ext cx="9834744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example showing how to get </a:t>
            </a:r>
            <a:r>
              <a:rPr lang="en-US" sz="1800" i="1" dirty="0" err="1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OMNIWeb</a:t>
            </a: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hapiclient</a:t>
            </a:r>
            <a:r>
              <a:rPr lang="en-US" sz="1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'https://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cdaweb.gsfc.nasa.gov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'OMNI2_H0_MRG1HR'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'2021-10-25T00:00:00Z'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 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'2021-12-01T00:00:00Z'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parameters is a comma-separated list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'DST1800,Proton_QI1800'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Configuration options for the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'logging'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usecache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cachedir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'./</a:t>
            </a:r>
            <a:r>
              <a:rPr lang="en-US" sz="1800" b="1" dirty="0" err="1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hapicache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parameter data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data, meta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(server, dataset, parameters, start, stop, 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3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59F80-B8B2-79AA-0F44-A262E993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2612-C3DA-373B-812E-B1BE26A1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411"/>
            <a:ext cx="11277600" cy="762000"/>
          </a:xfrm>
        </p:spPr>
        <p:txBody>
          <a:bodyPr>
            <a:normAutofit/>
          </a:bodyPr>
          <a:lstStyle/>
          <a:p>
            <a:r>
              <a:rPr lang="en-US" dirty="0"/>
              <a:t>Python code to get different data is nearly the same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093C9-33C7-74E1-1622-B8916EBF78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41F4D-0CC1-F063-D746-CC281286D4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04FF-5B22-9E5A-7037-D7071D81663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C4CA2-BAB7-7419-8565-47AB7636F094}"/>
              </a:ext>
            </a:extLst>
          </p:cNvPr>
          <p:cNvSpPr txBox="1"/>
          <p:nvPr/>
        </p:nvSpPr>
        <p:spPr>
          <a:xfrm>
            <a:off x="1178628" y="1586037"/>
            <a:ext cx="9834744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example showing how to get </a:t>
            </a:r>
            <a:r>
              <a:rPr lang="en-US" sz="1800" i="1" dirty="0" err="1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OMNIWeb</a:t>
            </a: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hapiclient</a:t>
            </a:r>
            <a:r>
              <a:rPr lang="en-US" sz="1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'https://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cdaweb.gsfc.nasa.gov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'OMNI2_H0_MRG1HR'</a:t>
            </a:r>
            <a:endParaRPr lang="en-US" sz="1800" b="1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'2021-10-25T00:00:00Z'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 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'2021-12-01T00:00:00Z'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parameters is a comma-separated list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'DST1800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800" b="1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Proton_QI1800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Configuration options for the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'logging'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usecache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cachedir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'./</a:t>
            </a:r>
            <a:r>
              <a:rPr lang="en-US" sz="1800" b="1" dirty="0" err="1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hapicache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parameter data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data, meta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(server, dataset, parameters, start, stop, 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22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BB6E-CE5D-5407-ED09-A02E319D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8293-B3CA-5D27-9575-02B9F5F6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2411"/>
            <a:ext cx="11277600" cy="762000"/>
          </a:xfrm>
        </p:spPr>
        <p:txBody>
          <a:bodyPr>
            <a:normAutofit/>
          </a:bodyPr>
          <a:lstStyle/>
          <a:p>
            <a:r>
              <a:rPr lang="en-US" dirty="0"/>
              <a:t>Python code to get different data is nearly the same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C07CD-A62D-C5E2-1D85-53288E98C4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A292F-C3E1-A2EE-ED41-C8C30B599B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AA5EB-B1FB-1C4E-8149-1B36320D62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40A7D-76DC-149C-AAA1-8C893314526E}"/>
              </a:ext>
            </a:extLst>
          </p:cNvPr>
          <p:cNvSpPr txBox="1"/>
          <p:nvPr/>
        </p:nvSpPr>
        <p:spPr>
          <a:xfrm>
            <a:off x="1178628" y="1586037"/>
            <a:ext cx="9834744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example showing how to get </a:t>
            </a:r>
            <a:r>
              <a:rPr lang="en-US" sz="1800" i="1" dirty="0" err="1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OMNIWeb</a:t>
            </a: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hapiclient</a:t>
            </a:r>
            <a:r>
              <a:rPr lang="en-US" sz="1800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800" dirty="0">
                <a:solidFill>
                  <a:srgbClr val="54823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'https://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cdaweb.gsfc.nasa.gov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'RBSP-A_DENSITY_EMFISIS-L4</a:t>
            </a:r>
            <a:r>
              <a:rPr lang="en-US" sz="1800" b="1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b="1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'2021-10-25T00:00:00Z'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      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'2021-12-01T00:00:00Z'</a:t>
            </a:r>
            <a:endParaRPr lang="en-U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i="1" dirty="0">
                <a:solidFill>
                  <a:srgbClr val="8FAADC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parameters is a comma-separated list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'density</a:t>
            </a:r>
            <a:r>
              <a:rPr lang="en-US" sz="180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sz="1800" dirty="0">
              <a:solidFill>
                <a:schemeClr val="accent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Configuration options for the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'logging'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usecache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rgbClr val="54823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cachedir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'./</a:t>
            </a:r>
            <a:r>
              <a:rPr lang="en-US" sz="1800" b="1" dirty="0" err="1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hapicache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Get parameter data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data, meta </a:t>
            </a:r>
            <a:r>
              <a:rPr lang="en-US" sz="1800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hapi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(server, dataset, parameters, start, stop, </a:t>
            </a:r>
            <a:r>
              <a:rPr lang="en-US" sz="1800" dirty="0">
                <a:solidFill>
                  <a:srgbClr val="7030A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opts)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85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DA78-3F52-4D55-EA92-C4E75196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Datasets Now Available!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215FAE-FF0F-8267-057E-69E312D7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E1DB9-9766-B305-FC08-45150CA9C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74062-6E55-1CF4-4D59-8E0114CE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9BA76-C9CB-23B8-315A-0445AE983B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1" b="7662"/>
          <a:stretch>
            <a:fillRect/>
          </a:stretch>
        </p:blipFill>
        <p:spPr>
          <a:xfrm>
            <a:off x="3504464" y="1069675"/>
            <a:ext cx="4728339" cy="527936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5A0E60-52BF-7209-FE67-CBBA9F9ACAED}"/>
              </a:ext>
            </a:extLst>
          </p:cNvPr>
          <p:cNvSpPr/>
          <p:nvPr/>
        </p:nvSpPr>
        <p:spPr>
          <a:xfrm>
            <a:off x="6096000" y="6060775"/>
            <a:ext cx="1486619" cy="288266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4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83808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B774-4688-F003-962E-829F10795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9100"/>
            <a:ext cx="9954491" cy="762000"/>
          </a:xfrm>
        </p:spPr>
        <p:txBody>
          <a:bodyPr>
            <a:normAutofit/>
          </a:bodyPr>
          <a:lstStyle/>
          <a:p>
            <a:r>
              <a:rPr lang="en-US" dirty="0"/>
              <a:t>Try out HAPI using the HAPI Data Explorer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3D36B-598E-4AC9-581A-FFF49B60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2B3AD7-E118-433C-FD2E-2B76B91B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BE9E3-EE35-0866-21AE-14C2B170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40F27-94D9-E4B2-8787-71CC69D601C5}"/>
              </a:ext>
            </a:extLst>
          </p:cNvPr>
          <p:cNvSpPr txBox="1"/>
          <p:nvPr/>
        </p:nvSpPr>
        <p:spPr>
          <a:xfrm>
            <a:off x="2170542" y="1148739"/>
            <a:ext cx="5715026" cy="461665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urier" pitchFamily="2" charset="0"/>
              </a:rPr>
              <a:t>http://</a:t>
            </a:r>
            <a:r>
              <a:rPr lang="en-US" sz="2400" b="1" dirty="0" err="1">
                <a:solidFill>
                  <a:schemeClr val="tx2">
                    <a:lumMod val="75000"/>
                  </a:schemeClr>
                </a:solidFill>
                <a:latin typeface="Courier" pitchFamily="2" charset="0"/>
              </a:rPr>
              <a:t>hapi-server.org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urier" pitchFamily="2" charset="0"/>
              </a:rPr>
              <a:t>/servers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2588A-16F2-A7EA-7D63-1D206FE4F2D7}"/>
              </a:ext>
            </a:extLst>
          </p:cNvPr>
          <p:cNvSpPr txBox="1"/>
          <p:nvPr/>
        </p:nvSpPr>
        <p:spPr>
          <a:xfrm>
            <a:off x="572422" y="2181791"/>
            <a:ext cx="6075702" cy="224676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Steps to take: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“HAPI servers” :  select CDAWeb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“Datasets”: select </a:t>
            </a:r>
            <a:r>
              <a:rPr lang="en-US" dirty="0"/>
              <a:t>RBSP-A_DENSITY_EMFISIS-L4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“Parameters”: select “electron density”</a:t>
            </a: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the time range: the defaults are ok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output: select Data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For format: select CSV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2214A7-584E-8BAF-ACFF-3AB7F2F31DC0}"/>
              </a:ext>
            </a:extLst>
          </p:cNvPr>
          <p:cNvSpPr txBox="1"/>
          <p:nvPr/>
        </p:nvSpPr>
        <p:spPr>
          <a:xfrm>
            <a:off x="167934" y="5826533"/>
            <a:ext cx="11856131" cy="276999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cdaweb.gsfc.nasa.gov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hapi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data?id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=RBSP-A_DENSITY_EMFISIS-L4&amp;parameters=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</a:rPr>
              <a:t>density&amp;time.min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=2012-09-15T00:00:03Z&amp;time.max=2012-09-17T00:00:03.000Z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A3D6CB-C530-BF16-DFDB-4AE5B82B3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297" y="2106636"/>
            <a:ext cx="3719897" cy="37198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5334162-3626-55AB-9549-EA4700B4DEA3}"/>
              </a:ext>
            </a:extLst>
          </p:cNvPr>
          <p:cNvSpPr txBox="1"/>
          <p:nvPr/>
        </p:nvSpPr>
        <p:spPr>
          <a:xfrm>
            <a:off x="3252354" y="3688772"/>
            <a:ext cx="3927678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(can also select Image, or Script)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5CFAA5-B4DE-9DCB-080A-3980C89EBB28}"/>
              </a:ext>
            </a:extLst>
          </p:cNvPr>
          <p:cNvSpPr txBox="1"/>
          <p:nvPr/>
        </p:nvSpPr>
        <p:spPr>
          <a:xfrm>
            <a:off x="8291851" y="1829637"/>
            <a:ext cx="3116559" cy="40011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Data request for EMFISIS</a:t>
            </a:r>
          </a:p>
        </p:txBody>
      </p:sp>
    </p:spTree>
    <p:extLst>
      <p:ext uri="{BB962C8B-B14F-4D97-AF65-F5344CB8AC3E}">
        <p14:creationId xmlns:p14="http://schemas.microsoft.com/office/powerpoint/2010/main" val="47718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FAB5-792A-D7AF-5B3D-0A1A14F1E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 the tables!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5B28-47EC-9698-A7C3-B9D59C1499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More about HAPI data that is available.</a:t>
            </a:r>
          </a:p>
          <a:p>
            <a:r>
              <a:rPr lang="en-US" dirty="0"/>
              <a:t>HAPI tutorials in HelioCloud</a:t>
            </a:r>
          </a:p>
          <a:p>
            <a:r>
              <a:rPr lang="en-US" dirty="0"/>
              <a:t>Help with specific questions!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5718B-28DF-5970-3649-1A88132324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SPASE Telecon, July 20,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E7C7-031D-5391-00E1-52DDD259D2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HAPI and SPASE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3BE8-F848-7C65-F5F0-1884091712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36263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2" id="{391C17A2-2FCF-7447-AB82-34B940C6A931}" vid="{69F63A80-7057-3741-B30E-97101A4CB9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7BFD2CB1E744298C1AF8AA7379FF3" ma:contentTypeVersion="4" ma:contentTypeDescription="Create a new document." ma:contentTypeScope="" ma:versionID="e78114eed8621f4f046573b7710756e9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xmlns:ns3="79de32d1-22ac-42d0-9c42-d61c55952b0c" targetNamespace="http://schemas.microsoft.com/office/2006/metadata/properties" ma:root="true" ma:fieldsID="e95644cd47d5260cc7f92a9c31875574" ns1:_="" ns2:_="" ns3:_="">
    <xsd:import namespace="http://schemas.microsoft.com/sharepoint/v3"/>
    <xsd:import namespace="http://schemas.microsoft.com/sharepoint/v4"/>
    <xsd:import namespace="79de32d1-22ac-42d0-9c42-d61c55952b0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e32d1-22ac-42d0-9c42-d61c55952b0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BB476B-CD8A-49EB-9796-541DDF5EF900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6F7CC06-1524-481C-BC1E-B399813B9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79de32d1-22ac-42d0-9c42-d61c55952b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96FBC9-784B-43FA-9D6B-E8D2B98C1D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21547</TotalTime>
  <Words>629</Words>
  <Application>Microsoft Macintosh PowerPoint</Application>
  <PresentationFormat>Widescreen</PresentationFormat>
  <Paragraphs>110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.AppleSystemUIFont</vt:lpstr>
      <vt:lpstr>Arial</vt:lpstr>
      <vt:lpstr>Calibri</vt:lpstr>
      <vt:lpstr>Courier</vt:lpstr>
      <vt:lpstr>Courier New</vt:lpstr>
      <vt:lpstr>Helvetica</vt:lpstr>
      <vt:lpstr>Wingdings</vt:lpstr>
      <vt:lpstr>APL-PowerPoint-Theme_light</vt:lpstr>
      <vt:lpstr>Use HAPI for Easy Data Access</vt:lpstr>
      <vt:lpstr>PowerPoint Presentation</vt:lpstr>
      <vt:lpstr>Python code to get data is short</vt:lpstr>
      <vt:lpstr>Python code to get different data is nearly the same</vt:lpstr>
      <vt:lpstr>Python code to get different data is nearly the same</vt:lpstr>
      <vt:lpstr>Many Datasets Now Available!</vt:lpstr>
      <vt:lpstr>Try out HAPI using the HAPI Data Explorer </vt:lpstr>
      <vt:lpstr>Visit the tables!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Version 1.0</dc:description>
  <cp:lastModifiedBy>jon vandegriff</cp:lastModifiedBy>
  <cp:revision>33</cp:revision>
  <cp:lastPrinted>2017-08-24T18:44:08Z</cp:lastPrinted>
  <dcterms:created xsi:type="dcterms:W3CDTF">2022-11-30T19:03:10Z</dcterms:created>
  <dcterms:modified xsi:type="dcterms:W3CDTF">2026-07-08T21:32:08Z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0x0101009757BFD2CB1E744298C1AF8AA7379FF3</vt:lpwstr>
  </property>
</Properties>
</file>